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828800" y="3159760"/>
            <a:ext cx="457200" cy="1034129"/>
          </a:xfrm>
          <a:prstGeom prst="rect">
            <a:avLst/>
          </a:prstGeom>
          <a:noFill/>
        </p:spPr>
        <p:txBody>
          <a:bodyPr wrap="square" lIns="0" tIns="9144" rIns="0" bIns="9144" rtlCol="0" anchor="ctr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240" y="1219200"/>
            <a:ext cx="7543800" cy="21526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3375491"/>
            <a:ext cx="6172200" cy="6858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267200" y="4074497"/>
            <a:ext cx="457200" cy="10156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4267368"/>
            <a:ext cx="3733800" cy="73152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0" y="1905000"/>
            <a:ext cx="6035040" cy="2350008"/>
          </a:xfrm>
        </p:spPr>
        <p:txBody>
          <a:bodyPr/>
          <a:lstStyle>
            <a:lvl1pPr marL="0" algn="l" defTabSz="914400" rtl="0" eaLnBrk="1" latinLnBrk="0" hangingPunct="1">
              <a:spcBef>
                <a:spcPct val="0"/>
              </a:spcBef>
              <a:buNone/>
              <a:defRPr lang="en-US" sz="5400" b="0" kern="1200" cap="none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1344168" y="658368"/>
            <a:ext cx="3273552" cy="3429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5029200" y="658368"/>
            <a:ext cx="3273552" cy="34321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4168" y="1371600"/>
            <a:ext cx="3276600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2920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29200" y="1371600"/>
            <a:ext cx="3273552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5664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8028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328920" y="1774588"/>
            <a:ext cx="457200" cy="12311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8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1"/>
            <a:ext cx="4343400" cy="3429000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0" y="685801"/>
            <a:ext cx="2590800" cy="3429000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19200" y="612775"/>
            <a:ext cx="6705600" cy="2546985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43200" y="3453047"/>
            <a:ext cx="5029200" cy="72080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5352" y="3331464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33600" y="685801"/>
            <a:ext cx="5791200" cy="3505199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9600" y="609601"/>
            <a:ext cx="2133600" cy="51816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95600" y="685801"/>
            <a:ext cx="5029200" cy="45720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  <a:alpha val="36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19724275">
            <a:off x="1373221" y="1038440"/>
            <a:ext cx="7240620" cy="570698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7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rot="17656910">
            <a:off x="-274211" y="1165875"/>
            <a:ext cx="5538472" cy="4480459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rot="19724275">
            <a:off x="3277955" y="116854"/>
            <a:ext cx="6479362" cy="475475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B4C71EC6-210F-42DE-9C53-41977AD35B3D}" type="datetimeFigureOut">
              <a:rPr lang="ru-RU" smtClean="0"/>
              <a:pPr/>
              <a:t>01.02.2026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</p:spPr>
        <p:txBody>
          <a:bodyPr vert="horz" lIns="91440" tIns="45720" rIns="91440" bIns="9144" rtlCol="0" anchor="b"/>
          <a:lstStyle>
            <a:lvl1pPr algn="l">
              <a:defRPr sz="16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56032" algn="l" defTabSz="914400" rtl="0" eaLnBrk="1" latinLnBrk="0" hangingPunct="1">
        <a:spcBef>
          <a:spcPct val="20000"/>
        </a:spcBef>
        <a:spcAft>
          <a:spcPts val="0"/>
        </a:spcAft>
        <a:buSzPct val="60000"/>
        <a:buFont typeface="Wingdings" pitchFamily="2" charset="2"/>
        <a:buChar char=""/>
        <a:defRPr sz="21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400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7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371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6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64592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5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96596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6pPr>
      <a:lvl7pPr marL="22402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7pPr>
      <a:lvl8pPr marL="2514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8pPr>
      <a:lvl9pPr marL="28346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866032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714348" y="428604"/>
            <a:ext cx="7606692" cy="1428760"/>
          </a:xfrm>
        </p:spPr>
        <p:txBody>
          <a:bodyPr/>
          <a:lstStyle/>
          <a:p>
            <a:pPr algn="ctr"/>
            <a:r>
              <a:rPr lang="ru-RU" sz="2800" dirty="0">
                <a:solidFill>
                  <a:srgbClr val="92D050"/>
                </a:solidFill>
                <a:effectLst/>
                <a:latin typeface="Times New Roman"/>
                <a:ea typeface="Calibri"/>
              </a:rPr>
              <a:t>Общевоинские уставы Вооруженных Сил Российской Федерации – закон воинской жизни</a:t>
            </a:r>
            <a:endParaRPr lang="ru-RU" sz="2800" dirty="0">
              <a:solidFill>
                <a:srgbClr val="92D050"/>
              </a:solidFill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1214414" y="2428875"/>
            <a:ext cx="701518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b="1" dirty="0">
                <a:solidFill>
                  <a:schemeClr val="tx2">
                    <a:lumMod val="90000"/>
                  </a:schemeClr>
                </a:solidFill>
                <a:latin typeface="Arial"/>
              </a:rPr>
              <a:t>Воинские уставы </a:t>
            </a:r>
            <a:r>
              <a:rPr lang="ru-RU" sz="2000" dirty="0">
                <a:solidFill>
                  <a:schemeClr val="tx2">
                    <a:lumMod val="90000"/>
                  </a:schemeClr>
                </a:solidFill>
                <a:latin typeface="Arial"/>
              </a:rPr>
              <a:t>— это официальные нормативно-правовые документы, регламентирующие несение службы в Вооруженных Силах, подготовку личного состава, определяющие основы их боевых действий. </a:t>
            </a:r>
            <a:r>
              <a:rPr lang="ru-RU" sz="2000" b="1" dirty="0">
                <a:solidFill>
                  <a:schemeClr val="tx2">
                    <a:lumMod val="90000"/>
                  </a:schemeClr>
                </a:solidFill>
                <a:latin typeface="Arial"/>
              </a:rPr>
              <a:t>Они определяют </a:t>
            </a:r>
            <a:r>
              <a:rPr lang="ru-RU" sz="2000" dirty="0">
                <a:solidFill>
                  <a:schemeClr val="tx2">
                    <a:lumMod val="90000"/>
                  </a:schemeClr>
                </a:solidFill>
                <a:latin typeface="Arial"/>
              </a:rPr>
              <a:t>права и обязанности военнослужа­щих, регламентируют их поведение и деятельность, жизнь, быт, боевую подготовку.</a:t>
            </a:r>
            <a:endParaRPr lang="ru-RU" sz="2000" dirty="0">
              <a:solidFill>
                <a:schemeClr val="tx2">
                  <a:lumMod val="90000"/>
                </a:schemeClr>
              </a:solidFill>
            </a:endParaRPr>
          </a:p>
        </p:txBody>
      </p:sp>
      <p:sp>
        <p:nvSpPr>
          <p:cNvPr id="6" name="Заголовок 6"/>
          <p:cNvSpPr txBox="1">
            <a:spLocks/>
          </p:cNvSpPr>
          <p:nvPr/>
        </p:nvSpPr>
        <p:spPr>
          <a:xfrm>
            <a:off x="777240" y="5715016"/>
            <a:ext cx="8081040" cy="7858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Разработал: Токарев А.П.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539552" y="332656"/>
            <a:ext cx="806489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Arial"/>
              </a:rPr>
              <a:t>Первая попытка установить общий порядок несения военной службы относится к 1571 году, когда боярином М.Н. Воротынским был составлен «Боярский приговор о станичной и сторожевой службе» .</a:t>
            </a:r>
            <a:endParaRPr lang="ru-RU" sz="2400" dirty="0"/>
          </a:p>
        </p:txBody>
      </p:sp>
      <p:pic>
        <p:nvPicPr>
          <p:cNvPr id="4" name="Picture 7" descr="slide00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68398" y="1902316"/>
            <a:ext cx="6102426" cy="4576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752193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3528" y="188640"/>
            <a:ext cx="835292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2800" dirty="0">
                <a:solidFill>
                  <a:srgbClr val="FFFF00"/>
                </a:solidFill>
                <a:latin typeface="Arial" charset="0"/>
              </a:rPr>
              <a:t>В 1621 году, появляется </a:t>
            </a:r>
            <a:r>
              <a:rPr lang="ru-RU" altLang="ru-RU" sz="2800" dirty="0">
                <a:solidFill>
                  <a:srgbClr val="FFFFE1"/>
                </a:solidFill>
                <a:latin typeface="Arial" charset="0"/>
              </a:rPr>
              <a:t>"Устав ратных, пушечных и других дел, касающихся до воинской науки…« (разработал </a:t>
            </a:r>
            <a:r>
              <a:rPr lang="ru-RU" altLang="ru-RU" sz="2800" dirty="0" err="1">
                <a:solidFill>
                  <a:srgbClr val="FFFFE1"/>
                </a:solidFill>
                <a:latin typeface="Arial" charset="0"/>
              </a:rPr>
              <a:t>Онисим</a:t>
            </a:r>
            <a:r>
              <a:rPr lang="ru-RU" altLang="ru-RU" sz="2800" dirty="0">
                <a:solidFill>
                  <a:srgbClr val="FFFFE1"/>
                </a:solidFill>
                <a:latin typeface="Arial" charset="0"/>
              </a:rPr>
              <a:t> Михайлов)</a:t>
            </a:r>
            <a:r>
              <a:rPr lang="ru-RU" altLang="ru-RU" sz="2800" dirty="0">
                <a:solidFill>
                  <a:srgbClr val="FFFF00"/>
                </a:solidFill>
                <a:latin typeface="Arial" charset="0"/>
              </a:rPr>
              <a:t>, где определялись действия войск в различных видах боя.</a:t>
            </a:r>
          </a:p>
        </p:txBody>
      </p:sp>
      <p:pic>
        <p:nvPicPr>
          <p:cNvPr id="3" name="Picture 6" descr="slide0007_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3400" y="2971800"/>
            <a:ext cx="4056063" cy="304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7" descr="slide000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971800"/>
            <a:ext cx="4038600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486483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3528" y="188640"/>
            <a:ext cx="849694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2800" dirty="0">
                <a:solidFill>
                  <a:srgbClr val="FFFF00"/>
                </a:solidFill>
                <a:latin typeface="Arial" charset="0"/>
              </a:rPr>
              <a:t>Дальнейшее развитие русские уставные документы получили в процессе создания Петром I регулярной армии </a:t>
            </a:r>
            <a:endParaRPr lang="ru-RU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pic>
        <p:nvPicPr>
          <p:cNvPr id="3" name="Picture 5" descr="slide00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573635"/>
            <a:ext cx="67056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18728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116632"/>
            <a:ext cx="856895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2800" dirty="0">
                <a:solidFill>
                  <a:srgbClr val="FFFF00"/>
                </a:solidFill>
                <a:latin typeface="Arial" charset="0"/>
              </a:rPr>
              <a:t>В 1918-1919гг. были утверждены первые уставы Красной Армии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2800" dirty="0">
                <a:solidFill>
                  <a:srgbClr val="FFFFE1"/>
                </a:solidFill>
                <a:latin typeface="Arial" charset="0"/>
              </a:rPr>
              <a:t>   </a:t>
            </a:r>
            <a:r>
              <a:rPr lang="ru-RU" sz="2400" dirty="0" smtClean="0">
                <a:solidFill>
                  <a:srgbClr val="FFFFE1"/>
                </a:solidFill>
                <a:latin typeface="Arial" charset="0"/>
              </a:rPr>
              <a:t>1918г</a:t>
            </a:r>
            <a:r>
              <a:rPr lang="ru-RU" sz="2400" dirty="0">
                <a:solidFill>
                  <a:srgbClr val="FFFFE1"/>
                </a:solidFill>
                <a:latin typeface="Arial" charset="0"/>
              </a:rPr>
              <a:t>.-  «Устав внутренней и гарнизонной службы»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2400" dirty="0">
                <a:solidFill>
                  <a:srgbClr val="FFFFE1"/>
                </a:solidFill>
                <a:latin typeface="Arial" charset="0"/>
              </a:rPr>
              <a:t>    1919г.- «Полевой устав», «Строевой устав», «Дисциплинарный устав»</a:t>
            </a:r>
            <a:endParaRPr lang="ru-RU" sz="2400" dirty="0">
              <a:solidFill>
                <a:srgbClr val="FFFF00"/>
              </a:solidFill>
              <a:latin typeface="Arial" charset="0"/>
            </a:endParaRPr>
          </a:p>
        </p:txBody>
      </p:sp>
      <p:pic>
        <p:nvPicPr>
          <p:cNvPr id="1026" name="Picture 2" descr="https://rossaprimavera.ru/static/files/1f9e93987cb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08890" y="2356345"/>
            <a:ext cx="7326219" cy="4374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031399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3528" y="188640"/>
            <a:ext cx="867645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400" b="1" dirty="0" smtClean="0">
              <a:solidFill>
                <a:schemeClr val="tx1">
                  <a:lumMod val="75000"/>
                </a:schemeClr>
              </a:solidFill>
              <a:latin typeface="Arial"/>
            </a:endParaRPr>
          </a:p>
          <a:p>
            <a:r>
              <a:rPr lang="ru-RU" sz="2400" b="1" dirty="0" smtClean="0">
                <a:solidFill>
                  <a:schemeClr val="tx1">
                    <a:lumMod val="75000"/>
                  </a:schemeClr>
                </a:solidFill>
                <a:latin typeface="Arial"/>
              </a:rPr>
              <a:t>Воинские </a:t>
            </a:r>
            <a:r>
              <a:rPr lang="ru-RU" sz="2400" b="1" dirty="0">
                <a:solidFill>
                  <a:schemeClr val="tx1">
                    <a:lumMod val="75000"/>
                  </a:schemeClr>
                </a:solidFill>
                <a:latin typeface="Arial"/>
              </a:rPr>
              <a:t>уставы подразделяются </a:t>
            </a:r>
            <a:r>
              <a:rPr lang="ru-RU" sz="2400" dirty="0">
                <a:solidFill>
                  <a:schemeClr val="tx1">
                    <a:lumMod val="75000"/>
                  </a:schemeClr>
                </a:solidFill>
                <a:latin typeface="Arial"/>
              </a:rPr>
              <a:t>на </a:t>
            </a:r>
            <a:r>
              <a:rPr lang="ru-RU" sz="2400" i="1" dirty="0">
                <a:solidFill>
                  <a:schemeClr val="tx1">
                    <a:lumMod val="75000"/>
                  </a:schemeClr>
                </a:solidFill>
                <a:latin typeface="Arial"/>
              </a:rPr>
              <a:t>боевые </a:t>
            </a:r>
            <a:r>
              <a:rPr lang="ru-RU" sz="2400" dirty="0">
                <a:solidFill>
                  <a:schemeClr val="tx1">
                    <a:lumMod val="75000"/>
                  </a:schemeClr>
                </a:solidFill>
                <a:latin typeface="Arial"/>
              </a:rPr>
              <a:t>и </a:t>
            </a:r>
            <a:r>
              <a:rPr lang="ru-RU" sz="2400" i="1" dirty="0">
                <a:solidFill>
                  <a:schemeClr val="tx1">
                    <a:lumMod val="75000"/>
                  </a:schemeClr>
                </a:solidFill>
                <a:latin typeface="Arial"/>
              </a:rPr>
              <a:t>общево­инские. </a:t>
            </a:r>
            <a:endParaRPr lang="ru-RU" sz="2400" i="1" dirty="0" smtClean="0">
              <a:solidFill>
                <a:schemeClr val="tx1">
                  <a:lumMod val="75000"/>
                </a:schemeClr>
              </a:solidFill>
              <a:latin typeface="Arial"/>
            </a:endParaRPr>
          </a:p>
          <a:p>
            <a:endParaRPr lang="ru-RU" sz="2400" u="sng" dirty="0" smtClean="0">
              <a:solidFill>
                <a:srgbClr val="C00000"/>
              </a:solidFill>
              <a:latin typeface="Arial"/>
            </a:endParaRPr>
          </a:p>
          <a:p>
            <a:r>
              <a:rPr lang="ru-RU" sz="2400" u="sng" dirty="0" smtClean="0">
                <a:solidFill>
                  <a:srgbClr val="C00000"/>
                </a:solidFill>
                <a:latin typeface="Arial"/>
              </a:rPr>
              <a:t>Боевые </a:t>
            </a:r>
            <a:r>
              <a:rPr lang="ru-RU" sz="2400" u="sng" dirty="0">
                <a:solidFill>
                  <a:srgbClr val="C00000"/>
                </a:solidFill>
                <a:latin typeface="Arial"/>
              </a:rPr>
              <a:t>уставы</a:t>
            </a:r>
            <a:r>
              <a:rPr lang="ru-RU" sz="2400" dirty="0">
                <a:solidFill>
                  <a:schemeClr val="tx1">
                    <a:lumMod val="75000"/>
                  </a:schemeClr>
                </a:solidFill>
                <a:latin typeface="Arial"/>
              </a:rPr>
              <a:t> определяют основы ведения боевых действий данным видом Вооруженных Сил. </a:t>
            </a:r>
            <a:endParaRPr lang="ru-RU" sz="2400" dirty="0" smtClean="0">
              <a:solidFill>
                <a:schemeClr val="tx1">
                  <a:lumMod val="75000"/>
                </a:schemeClr>
              </a:solidFill>
              <a:latin typeface="Arial"/>
            </a:endParaRPr>
          </a:p>
          <a:p>
            <a:endParaRPr lang="ru-RU" sz="2400" u="sng" dirty="0" smtClean="0">
              <a:solidFill>
                <a:srgbClr val="00B050"/>
              </a:solidFill>
              <a:latin typeface="Arial"/>
            </a:endParaRPr>
          </a:p>
          <a:p>
            <a:r>
              <a:rPr lang="ru-RU" sz="2400" u="sng" dirty="0" smtClean="0">
                <a:solidFill>
                  <a:srgbClr val="00B050"/>
                </a:solidFill>
                <a:latin typeface="Arial"/>
              </a:rPr>
              <a:t>Общевоинские уставы </a:t>
            </a:r>
            <a:r>
              <a:rPr lang="ru-RU" sz="2400" dirty="0">
                <a:solidFill>
                  <a:schemeClr val="tx1">
                    <a:lumMod val="75000"/>
                  </a:schemeClr>
                </a:solidFill>
                <a:latin typeface="Arial"/>
              </a:rPr>
              <a:t> </a:t>
            </a:r>
            <a:r>
              <a:rPr lang="ru-RU" sz="2400" dirty="0" smtClean="0">
                <a:solidFill>
                  <a:schemeClr val="tx1">
                    <a:lumMod val="75000"/>
                  </a:schemeClr>
                </a:solidFill>
                <a:latin typeface="Arial"/>
              </a:rPr>
              <a:t> </a:t>
            </a:r>
          </a:p>
          <a:p>
            <a:r>
              <a:rPr lang="ru-RU" sz="2400" dirty="0" smtClean="0">
                <a:solidFill>
                  <a:schemeClr val="tx1">
                    <a:lumMod val="75000"/>
                  </a:schemeClr>
                </a:solidFill>
                <a:latin typeface="Arial"/>
              </a:rPr>
              <a:t>регламентируют </a:t>
            </a:r>
            <a:r>
              <a:rPr lang="ru-RU" sz="2400" dirty="0">
                <a:solidFill>
                  <a:schemeClr val="tx1">
                    <a:lumMod val="75000"/>
                  </a:schemeClr>
                </a:solidFill>
                <a:latin typeface="Arial"/>
              </a:rPr>
              <a:t>уклад жизни и деятельности Вооруженных Сил, определяют по­рядок, должностные права и обязанности.</a:t>
            </a:r>
            <a:endParaRPr lang="ru-RU" sz="2400" dirty="0">
              <a:solidFill>
                <a:schemeClr val="tx1">
                  <a:lumMod val="75000"/>
                </a:schemeClr>
              </a:solidFill>
            </a:endParaRPr>
          </a:p>
        </p:txBody>
      </p:sp>
      <p:grpSp>
        <p:nvGrpSpPr>
          <p:cNvPr id="3" name="Группа 2"/>
          <p:cNvGrpSpPr/>
          <p:nvPr/>
        </p:nvGrpSpPr>
        <p:grpSpPr>
          <a:xfrm>
            <a:off x="1609309" y="4797152"/>
            <a:ext cx="5925382" cy="1461231"/>
            <a:chOff x="0" y="0"/>
            <a:chExt cx="5925382" cy="1461231"/>
          </a:xfrm>
        </p:grpSpPr>
        <p:sp>
          <p:nvSpPr>
            <p:cNvPr id="4" name="Скругленный прямоугольник 3"/>
            <p:cNvSpPr/>
            <p:nvPr/>
          </p:nvSpPr>
          <p:spPr>
            <a:xfrm>
              <a:off x="0" y="0"/>
              <a:ext cx="5925382" cy="1461231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E70000">
                    <a:tint val="50000"/>
                    <a:satMod val="300000"/>
                  </a:srgbClr>
                </a:gs>
                <a:gs pos="35000">
                  <a:srgbClr val="E70000">
                    <a:tint val="37000"/>
                    <a:satMod val="300000"/>
                  </a:srgbClr>
                </a:gs>
                <a:gs pos="100000">
                  <a:srgbClr val="E70000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E7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sp>
        <p:sp>
          <p:nvSpPr>
            <p:cNvPr id="5" name="Скругленный прямоугольник 4"/>
            <p:cNvSpPr/>
            <p:nvPr/>
          </p:nvSpPr>
          <p:spPr>
            <a:xfrm>
              <a:off x="42798" y="42798"/>
              <a:ext cx="5839786" cy="13756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60960" tIns="40640" rIns="60960" bIns="40640" numCol="1" spcCol="1270" anchor="ctr" anchorCtr="0">
              <a:noAutofit/>
            </a:bodyPr>
            <a:lstStyle/>
            <a:p>
              <a:pPr marL="0" marR="0" lvl="0" indent="0" algn="ctr" defTabSz="14224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32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Уставы Вооруженных сил </a:t>
              </a:r>
              <a:r>
                <a:rPr kumimoji="0" lang="ru-RU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(утверждены Указом Президента РФ </a:t>
              </a:r>
            </a:p>
            <a:p>
              <a:pPr marL="0" marR="0" lvl="0" indent="0" algn="ctr" defTabSz="14224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14 декабря 1993г.)</a:t>
              </a: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650521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131840" y="260648"/>
            <a:ext cx="5976664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solidFill>
                  <a:srgbClr val="00B050"/>
                </a:solidFill>
                <a:latin typeface="Arial"/>
              </a:rPr>
              <a:t>Данный </a:t>
            </a:r>
            <a:r>
              <a:rPr lang="ru-RU" sz="2000" dirty="0">
                <a:solidFill>
                  <a:srgbClr val="00B050"/>
                </a:solidFill>
                <a:latin typeface="Arial"/>
              </a:rPr>
              <a:t>устав </a:t>
            </a:r>
            <a:r>
              <a:rPr lang="ru-RU" sz="2000" b="1" dirty="0">
                <a:solidFill>
                  <a:srgbClr val="00B050"/>
                </a:solidFill>
                <a:latin typeface="Arial"/>
              </a:rPr>
              <a:t>определяет </a:t>
            </a:r>
            <a:r>
              <a:rPr lang="ru-RU" sz="2000" i="1" dirty="0">
                <a:solidFill>
                  <a:srgbClr val="00B050"/>
                </a:solidFill>
                <a:latin typeface="Arial"/>
              </a:rPr>
              <a:t>общие права и обязанности военнослужащих Вооруженных Сил и взаимоотношения между ними, обязанности основных должностных лиц полка и его подразделений, а также правила внутренне­го распорядка. </a:t>
            </a:r>
            <a:r>
              <a:rPr lang="ru-RU" sz="2000" dirty="0">
                <a:solidFill>
                  <a:srgbClr val="00B050"/>
                </a:solidFill>
                <a:latin typeface="Arial"/>
              </a:rPr>
              <a:t>На кораблях внутренняя служба и обя­занности должностных лиц дополнительно определя­ются Корабельным уставом Военно-Морского Флота. В уставе определено, что повседневная жизнь и дея­тельность военнослужащих в воинской части осуще­ствляются в соответствии с </a:t>
            </a:r>
            <a:r>
              <a:rPr lang="ru-RU" sz="2000" dirty="0" smtClean="0">
                <a:solidFill>
                  <a:srgbClr val="00B050"/>
                </a:solidFill>
                <a:latin typeface="Arial"/>
              </a:rPr>
              <a:t>требованиями </a:t>
            </a:r>
            <a:r>
              <a:rPr lang="ru-RU" sz="2000" b="1" dirty="0" smtClean="0">
                <a:solidFill>
                  <a:srgbClr val="00B050"/>
                </a:solidFill>
                <a:latin typeface="Arial"/>
              </a:rPr>
              <a:t>внутрен­ней </a:t>
            </a:r>
            <a:r>
              <a:rPr lang="ru-RU" sz="2000" b="1" dirty="0">
                <a:solidFill>
                  <a:srgbClr val="00B050"/>
                </a:solidFill>
                <a:latin typeface="Arial"/>
              </a:rPr>
              <a:t>службы, </a:t>
            </a:r>
            <a:r>
              <a:rPr lang="ru-RU" sz="2000" dirty="0">
                <a:solidFill>
                  <a:srgbClr val="00B050"/>
                </a:solidFill>
                <a:latin typeface="Arial"/>
              </a:rPr>
              <a:t>которая </a:t>
            </a:r>
            <a:r>
              <a:rPr lang="ru-RU" sz="2000" i="1" dirty="0">
                <a:solidFill>
                  <a:srgbClr val="00B050"/>
                </a:solidFill>
                <a:latin typeface="Arial"/>
              </a:rPr>
              <a:t>предназначена для поддержания в воинской части внутреннего порядка и воинской дис­циплины, обеспечивающих ее постоянную боевую го­товность, учебу личного состава, организованное вы­полнение им других задач в повседневной деятельности и сохранение здоровья военнослужащих.</a:t>
            </a:r>
            <a:endParaRPr lang="ru-RU" sz="2000" b="0" i="0" dirty="0">
              <a:solidFill>
                <a:srgbClr val="00B050"/>
              </a:solidFill>
              <a:effectLst/>
              <a:latin typeface="Arial"/>
            </a:endParaRPr>
          </a:p>
        </p:txBody>
      </p:sp>
      <p:pic>
        <p:nvPicPr>
          <p:cNvPr id="3" name="Picture 14" descr="cupl131136bi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19" y="476672"/>
            <a:ext cx="2830119" cy="439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457308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1520" y="260648"/>
            <a:ext cx="5256584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solidFill>
                  <a:srgbClr val="FF0000"/>
                </a:solidFill>
                <a:latin typeface="Arial"/>
              </a:rPr>
              <a:t>Дисциплинарный устав </a:t>
            </a:r>
            <a:r>
              <a:rPr lang="ru-RU" sz="2000" b="1" dirty="0">
                <a:solidFill>
                  <a:srgbClr val="FF0000"/>
                </a:solidFill>
                <a:latin typeface="Arial"/>
              </a:rPr>
              <a:t>определяет </a:t>
            </a:r>
            <a:r>
              <a:rPr lang="ru-RU" sz="2000" i="1" dirty="0">
                <a:solidFill>
                  <a:srgbClr val="FF0000"/>
                </a:solidFill>
                <a:latin typeface="Arial"/>
              </a:rPr>
              <a:t>сущность воин­ской </a:t>
            </a:r>
            <a:r>
              <a:rPr lang="ru-RU" sz="2000" i="1" dirty="0" smtClean="0">
                <a:solidFill>
                  <a:srgbClr val="FF0000"/>
                </a:solidFill>
                <a:latin typeface="Arial"/>
              </a:rPr>
              <a:t>дисциплины, обязанности </a:t>
            </a:r>
            <a:r>
              <a:rPr lang="ru-RU" sz="2000" i="1" dirty="0">
                <a:solidFill>
                  <a:srgbClr val="FF0000"/>
                </a:solidFill>
                <a:latin typeface="Arial"/>
              </a:rPr>
              <a:t>военнослужащих по ее соблюдению, виды поощрений и дисциплинарных взыс­каний, права командиров (начальников) по их примене­нию, а также порядок подачи и рассмотрения предло­жений, заявлений и жалоб.</a:t>
            </a:r>
            <a:endParaRPr lang="ru-RU" sz="2000" dirty="0">
              <a:solidFill>
                <a:srgbClr val="FF0000"/>
              </a:solidFill>
              <a:latin typeface="Arial"/>
            </a:endParaRPr>
          </a:p>
          <a:p>
            <a:pPr algn="just"/>
            <a:r>
              <a:rPr lang="ru-RU" sz="2000" b="1" dirty="0" smtClean="0">
                <a:solidFill>
                  <a:srgbClr val="FF0000"/>
                </a:solidFill>
                <a:latin typeface="Arial"/>
              </a:rPr>
              <a:t>Воинскую</a:t>
            </a:r>
            <a:r>
              <a:rPr lang="ru-RU" sz="2000" b="1" dirty="0">
                <a:solidFill>
                  <a:srgbClr val="FF0000"/>
                </a:solidFill>
                <a:latin typeface="Arial"/>
              </a:rPr>
              <a:t> дисциплину </a:t>
            </a:r>
            <a:r>
              <a:rPr lang="ru-RU" sz="2000" dirty="0">
                <a:solidFill>
                  <a:srgbClr val="FF0000"/>
                </a:solidFill>
                <a:latin typeface="Arial"/>
              </a:rPr>
              <a:t>устав определяет как </a:t>
            </a:r>
            <a:r>
              <a:rPr lang="ru-RU" sz="2000" i="1" dirty="0">
                <a:solidFill>
                  <a:srgbClr val="FF0000"/>
                </a:solidFill>
                <a:latin typeface="Arial"/>
              </a:rPr>
              <a:t>строгое и точное соблюдение всеми военнослужащими порядка и правил, установленных законами, воинскими уставами приказами командиров (начальников). Она </a:t>
            </a:r>
            <a:r>
              <a:rPr lang="ru-RU" sz="2000" dirty="0">
                <a:solidFill>
                  <a:srgbClr val="FF0000"/>
                </a:solidFill>
                <a:latin typeface="Arial"/>
              </a:rPr>
              <a:t>основывается </a:t>
            </a:r>
            <a:r>
              <a:rPr lang="ru-RU" sz="2000" i="1" dirty="0">
                <a:solidFill>
                  <a:srgbClr val="FF0000"/>
                </a:solidFill>
                <a:latin typeface="Arial"/>
              </a:rPr>
              <a:t>на осознании каждым военнослужащим воинского долга и личной ответственности за защиту своего Оте­чества, на его беззаветной преданности </a:t>
            </a:r>
            <a:r>
              <a:rPr lang="ru-RU" sz="2000" i="1" dirty="0" smtClean="0">
                <a:solidFill>
                  <a:srgbClr val="FF0000"/>
                </a:solidFill>
                <a:latin typeface="Arial"/>
              </a:rPr>
              <a:t>своей Родине.</a:t>
            </a:r>
            <a:endParaRPr lang="ru-RU" sz="2000" b="0" i="0" dirty="0">
              <a:solidFill>
                <a:srgbClr val="FF0000"/>
              </a:solidFill>
              <a:effectLst/>
              <a:latin typeface="Arial"/>
            </a:endParaRPr>
          </a:p>
        </p:txBody>
      </p:sp>
      <p:pic>
        <p:nvPicPr>
          <p:cNvPr id="3" name="Picture 13" descr="14109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24128" y="548680"/>
            <a:ext cx="3168352" cy="4396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22316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131840" y="260648"/>
            <a:ext cx="58864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latin typeface="Arial"/>
              </a:rPr>
              <a:t>В этом уставе </a:t>
            </a:r>
            <a:r>
              <a:rPr lang="ru-RU" sz="2000" dirty="0">
                <a:latin typeface="Arial"/>
              </a:rPr>
              <a:t> </a:t>
            </a:r>
            <a:r>
              <a:rPr lang="ru-RU" sz="2000" b="1" dirty="0">
                <a:latin typeface="Arial"/>
              </a:rPr>
              <a:t>определены </a:t>
            </a:r>
            <a:r>
              <a:rPr lang="ru-RU" sz="2000" b="1" dirty="0" smtClean="0">
                <a:latin typeface="Arial"/>
              </a:rPr>
              <a:t> </a:t>
            </a:r>
            <a:r>
              <a:rPr lang="ru-RU" sz="2000" i="1" dirty="0" smtClean="0">
                <a:latin typeface="Arial"/>
              </a:rPr>
              <a:t>предназначение</a:t>
            </a:r>
            <a:r>
              <a:rPr lang="ru-RU" sz="2000" i="1" dirty="0">
                <a:latin typeface="Arial"/>
              </a:rPr>
              <a:t>, порядок ор­ганизации и несения гарнизонной и караульной служб, права и обязанности должностных лиц гарнизона и во­еннослужащих, несущих эти службы.</a:t>
            </a:r>
            <a:endParaRPr lang="ru-RU" sz="2000" dirty="0">
              <a:latin typeface="Arial"/>
            </a:endParaRPr>
          </a:p>
          <a:p>
            <a:r>
              <a:rPr lang="ru-RU" sz="2000" b="1" dirty="0">
                <a:latin typeface="Arial"/>
              </a:rPr>
              <a:t>Гарнизон </a:t>
            </a:r>
            <a:r>
              <a:rPr lang="ru-RU" sz="2000" dirty="0">
                <a:latin typeface="Arial"/>
              </a:rPr>
              <a:t>составляют воинские части, расположен­ные постоянно или временно в населенном пункте или вне него. В состав крупного гарнизона, как пра­вило, включаются все воинские части, расположен­ные в ближайших к нему населенных пунктах.</a:t>
            </a:r>
          </a:p>
          <a:p>
            <a:r>
              <a:rPr lang="ru-RU" sz="2000" b="1" i="1" dirty="0">
                <a:latin typeface="Arial"/>
              </a:rPr>
              <a:t>Гарнизонная служба</a:t>
            </a:r>
            <a:r>
              <a:rPr lang="ru-RU" sz="2000" b="1" dirty="0">
                <a:latin typeface="Arial"/>
              </a:rPr>
              <a:t> </a:t>
            </a:r>
            <a:r>
              <a:rPr lang="ru-RU" sz="2000" dirty="0">
                <a:latin typeface="Arial"/>
              </a:rPr>
              <a:t>имеет целью обеспечить поддер­жание воинской дисциплины в гарнизоне. </a:t>
            </a:r>
            <a:endParaRPr lang="ru-RU" sz="2000" dirty="0" smtClean="0">
              <a:latin typeface="Arial"/>
            </a:endParaRPr>
          </a:p>
          <a:p>
            <a:r>
              <a:rPr lang="ru-RU" sz="2000" b="1" i="1" dirty="0" smtClean="0">
                <a:latin typeface="Arial"/>
              </a:rPr>
              <a:t>Карауль­ная </a:t>
            </a:r>
            <a:r>
              <a:rPr lang="ru-RU" sz="2000" b="1" i="1" dirty="0">
                <a:latin typeface="Arial"/>
              </a:rPr>
              <a:t>служба</a:t>
            </a:r>
            <a:r>
              <a:rPr lang="ru-RU" sz="2000" b="1" dirty="0">
                <a:latin typeface="Arial"/>
              </a:rPr>
              <a:t> </a:t>
            </a:r>
            <a:r>
              <a:rPr lang="ru-RU" sz="2000" dirty="0">
                <a:latin typeface="Arial"/>
              </a:rPr>
              <a:t>предназначена для надежной охраны и обороны боевых знамен, хранилищ с вооружением, военной техникой, другими материальными средст­вами и иных военных и государственных объектов, а также для охраны лиц, содержащихся на гауптвах­те и в дисциплинарном батальоне</a:t>
            </a:r>
            <a:r>
              <a:rPr lang="ru-RU" dirty="0" smtClean="0">
                <a:latin typeface="Arial"/>
              </a:rPr>
              <a:t>.</a:t>
            </a:r>
            <a:endParaRPr lang="ru-RU" b="0" i="0" dirty="0">
              <a:effectLst/>
              <a:latin typeface="Arial"/>
            </a:endParaRPr>
          </a:p>
        </p:txBody>
      </p:sp>
      <p:pic>
        <p:nvPicPr>
          <p:cNvPr id="3" name="Picture 11" descr="files-UPTpa77W2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1414618"/>
            <a:ext cx="2880320" cy="4028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003676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7504" y="188640"/>
            <a:ext cx="856895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Arial"/>
              </a:rPr>
              <a:t>Строевой устав, его предназначение и основные положения.</a:t>
            </a:r>
            <a:endParaRPr lang="ru-RU" dirty="0">
              <a:solidFill>
                <a:schemeClr val="tx2">
                  <a:lumMod val="75000"/>
                </a:schemeClr>
              </a:solidFill>
              <a:latin typeface="Arial"/>
            </a:endParaRPr>
          </a:p>
          <a:p>
            <a:pPr algn="just"/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Arial"/>
              </a:rPr>
              <a:t>Строевой устав определяет </a:t>
            </a:r>
            <a:r>
              <a:rPr lang="ru-RU" i="1" dirty="0">
                <a:solidFill>
                  <a:schemeClr val="tx2">
                    <a:lumMod val="75000"/>
                  </a:schemeClr>
                </a:solidFill>
                <a:latin typeface="Arial"/>
              </a:rPr>
              <a:t>строевые приемы, строй подразделений и частей, порядок их движения и дейст­вий в различных условиях. 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Arial"/>
              </a:rPr>
              <a:t>На основе Строевого устава Вооруженных Сил организуется и проводится строе­вая подготовка, которая является одним из основных предметов обучения и воспитания военнослужащих. Строевая подготовка включает: одиночные строевые приемы без оружия и с оружием; слаживание под­разделений при действиях в пешем порядке и на ма­шинах; строевые смотры подразделений.</a:t>
            </a:r>
            <a:endParaRPr lang="ru-RU" b="0" i="0" dirty="0">
              <a:solidFill>
                <a:schemeClr val="tx2">
                  <a:lumMod val="75000"/>
                </a:schemeClr>
              </a:solidFill>
              <a:effectLst/>
              <a:latin typeface="Arial"/>
            </a:endParaRPr>
          </a:p>
        </p:txBody>
      </p:sp>
      <p:pic>
        <p:nvPicPr>
          <p:cNvPr id="5122" name="Picture 2" descr="http://s019.radikal.ru/i637/1704/3e/567bed213d7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4805" y="2496964"/>
            <a:ext cx="3175910" cy="4264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://voinskajachast.ru/wp-content/uploads/2019/03/soldat_20_16100455-1068x57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46198" y="2996952"/>
            <a:ext cx="5705610" cy="307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1816887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азовая">
  <a:themeElements>
    <a:clrScheme name="Базовая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Базовая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азовая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36</TotalTime>
  <Words>161</Words>
  <Application>Microsoft Office PowerPoint</Application>
  <PresentationFormat>Экран (4:3)</PresentationFormat>
  <Paragraphs>27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Базовая</vt:lpstr>
      <vt:lpstr>Слайд 1</vt:lpstr>
      <vt:lpstr>Общевоинские уставы Вооруженных Сил Российской Федерации – закон воинской жизни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Общевоинские уставы Вооруженных Сил Российской Федерации – закон воинской жизни</dc:title>
  <dc:creator>Admin</dc:creator>
  <cp:lastModifiedBy>Т.</cp:lastModifiedBy>
  <cp:revision>7</cp:revision>
  <dcterms:created xsi:type="dcterms:W3CDTF">2020-02-14T14:28:06Z</dcterms:created>
  <dcterms:modified xsi:type="dcterms:W3CDTF">2026-02-01T12:48:55Z</dcterms:modified>
</cp:coreProperties>
</file>